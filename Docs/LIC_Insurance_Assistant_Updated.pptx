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18"/>
    <p:sldId id="269" r:id="rId19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99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 Insurance Policy Assistant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 |  Agentic Recommendation  | 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50292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017520"/>
            <a:ext cx="2011680" cy="384048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LIC Policy Documents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3017520"/>
            <a:ext cx="2011680" cy="384048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3017520"/>
            <a:ext cx="2011680" cy="384048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3017520"/>
            <a:ext cx="2011680" cy="384048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70B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3–4 days  ·  End-to-end implementation  ·  Pure Python agentic flow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Goal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no easy way to understand complex policy terms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multiple plans is confusing and time consuming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plan choice can have serious long-term financial impact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any policy question grounded only in actual LIC documents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 plan recommendations based on user profile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hallucinate — if info not in docs, say so clearly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 — Day 3 Upgrades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3886200"/>
          </a:xfrm>
          <a:prstGeom prst="rect">
            <a:avLst/>
          </a:prstGeom>
          <a:solidFill>
            <a:srgbClr val="243558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914400"/>
            <a:ext cx="685800" cy="68580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loader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 embedder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storage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+ Reranker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70B via Groq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3886200"/>
          </a:xfrm>
          <a:prstGeom prst="rect">
            <a:avLst/>
          </a:prstGeom>
          <a:solidFill>
            <a:srgbClr val="24355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91440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Layer (New)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Agent (Tavily)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Calculator Tool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3886200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914400"/>
            <a:ext cx="685800" cy="685800"/>
          </a:xfrm>
          <a:prstGeom prst="ellipse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 + memory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cosine hybrid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semantic cache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tracing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Token-efficient API calls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Humorous guardrails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1A — Ingestion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LIC PDFs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tables &amp; numbers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32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chunks &lt; 100 chars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32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BGE-Large-EN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 vectors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32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extension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4048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Fitz over PyPDFLoader?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couldn't read tables or numbers properly. Fitz is industry standard and handles structured data, LaTeX, and numerical data accurately.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840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84048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PostgreSQL + pgvector?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 for storage AND vector search with cosine similarity built in. Eliminated separate vector DB service — reduced latency and dependency.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3840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384048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BGE-Large-EN?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Bing search queries — understands natural human question format. MiniLM was fast but not accurate enough for this use case.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1B — Retrieval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60120"/>
            <a:ext cx="1600200" cy="14173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insurance question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83080" y="137160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38528" y="960120"/>
            <a:ext cx="160020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38528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38528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38728" y="137160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94176" y="960120"/>
            <a:ext cx="1600200" cy="14173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94176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Retrieval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94176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Top 18 </a:t>
            </a: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0.25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94376" y="137160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49824" y="960120"/>
            <a:ext cx="16002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9824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9824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chunks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50024" y="137160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05472" y="960120"/>
            <a:ext cx="1600200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05472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70B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05472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 citation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606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0604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Top 5 Retrieval?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"Death benefit" and "death payout" mean the same thing but are different keywords. Top 5 ensures semantic variations are covered.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2606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60604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Threshold 0.25?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was too strict — missed valid chunks. 0.25 balances recall vs noise. Below threshold → "Not found" response, no hallucination.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2606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60604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Retriever + Reranker?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is fast but approximate. Reranker reads query + chunk together for deep semantic match. Running reranker on all chunks = 20–30 sec delay.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7033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70332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BM25 + Cosine?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does exact keyword match, cosine does semantic similarity. They catch opposite things — together they improve retrieval quality significantly.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37033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70332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Prevention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3756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reranker scores are all negative → no answer generated. Model instructed to cite source from metadata. Temperature = 0.1 for consistency.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80760" y="37033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370332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query = 2 LLM calls. Non-insurance query = 1 call (guardrail only). Not in docs = 1 call, retrieval returns nothing, no generation call.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Agentic Recommendation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914400"/>
            <a:ext cx="475488" cy="47548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Collector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938528"/>
            <a:ext cx="1234440" cy="2743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LLM calls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expenses,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dependants, goal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humorous UX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01368" y="233172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56816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23744" y="91440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56816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Shortlister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39696" y="1938528"/>
            <a:ext cx="12344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9696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29968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7 plan descriptions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2–3 best fits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(skipped if plans named)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57016" y="233172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12464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9392" y="91440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12464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Analyst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95344" y="1938528"/>
            <a:ext cx="12344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95344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 per plan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85616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chunks per plan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 profile → gist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12664" y="233172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68112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914400"/>
            <a:ext cx="475488" cy="475488"/>
          </a:xfrm>
          <a:prstGeom prst="ellipse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68112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50992" y="1938528"/>
            <a:ext cx="1234440" cy="2743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41264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gists + profile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Final recommendation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reasoning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68312" y="233172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23760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90688" y="91440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0688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3760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 Handling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06640" y="1938528"/>
            <a:ext cx="123444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 per doubt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96912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Q&amp;A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handles factual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post-recommendation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to LangGraph StateGraph — guardrail → intent → specialized agent. Each node independently testable. Adding a new agent = one node + one edge.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— Optimization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179320"/>
            <a:ext cx="1371600" cy="838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31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Char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MiniLM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508760"/>
            <a:ext cx="137160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161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Heading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BGE-Large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341120"/>
            <a:ext cx="1371600" cy="1676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993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Semantic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BGE-Large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40880" y="1005840"/>
            <a:ext cx="1371600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658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 + Semantic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BGE-Large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4904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49040"/>
            <a:ext cx="64008" cy="56692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67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Loader: PyPDF → Fitz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returned '105 over 7'. Fitz returned '10% per installment'. Accuracy on number-heavy queries jumped immediately.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749040"/>
            <a:ext cx="64008" cy="56692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767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Character → Semantic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 docs follow heading &gt; subheading &gt; content structure. Semantic chunking respected this — chunks became contextually complete.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389120"/>
            <a:ext cx="64008" cy="56692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07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Embedder: MiniLM → BGE-Large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 trained on Bing queries — understands human question format. Retrieval relevance improved significantly.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4389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4389120"/>
            <a:ext cx="64008" cy="56692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407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 + Cosine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handles exact keyword match, cosine handles semantic similarity. Together they catch what the other misses.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069080" cy="1874520"/>
          </a:xfrm>
          <a:prstGeom prst="rect">
            <a:avLst/>
          </a:prstGeom>
          <a:solidFill>
            <a:srgbClr val="243558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6908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Storage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 — PDF loading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document storage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vector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semantic cache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069080" cy="1874520"/>
          </a:xfrm>
          <a:prstGeom prst="rect">
            <a:avLst/>
          </a:prstGeom>
          <a:solidFill>
            <a:srgbClr val="24355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40690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 Ranking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BGE-Large-EN — embeddings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— keyword retrieval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— semantic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 — reranker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069080" cy="1874520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4069080" cy="36576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718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&amp;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Versatile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(free tier)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grounding prompts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971800"/>
            <a:ext cx="4069080" cy="1874520"/>
          </a:xfrm>
          <a:prstGeom prst="rect">
            <a:avLst/>
          </a:prstGeom>
          <a:solidFill>
            <a:srgbClr val="243558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71800"/>
            <a:ext cx="40690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9718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UI (Upgraded)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— guardrail + intent tracing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— banking UI + action buttons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— live IRDAI web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declarative routing graph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(numbers + rates)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healthy query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(grounded answers)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06040"/>
            <a:ext cx="40233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Worked Well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 loader — accurate number and table extraction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— structure-aware, contextually complete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cosine hybrid — catches both exact and semantic matches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— cuts repeated query API costs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combo — fast retrieval + accurate ranking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06040"/>
            <a:ext cx="402336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Known Limitations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Term plan type query fails inconsistently classification line likely lost during chunking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comparison often shows not mentioned in table but chunks are present in 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on 7 LIC plans adding more plans requires re-ingestion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requires separate service running alongside the app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Loaders Matter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vs Fitz is not just a library choice — it directly determines data quality. Wrong loader = wrong numbers = wrong answers.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Character-based is fast but dumb. Semantic chunking understands document structure. The right chunk size and method changes everything.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8076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Embedder Quality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0488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embedders are equal. Training data matters — BGE-Large trained on search queries performed significantly better for retrieval.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" y="3401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 + Reranker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749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 is an industry pattern for good reason. Speed and accuracy are a trade-off — this combo gives both.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3401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Without Framework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749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agents in pure Python forced a deeper understanding of state management, prompt design, and pipeline orchestration.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80760" y="3401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Everything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3749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test cases and Langfuse tracing you are guessing. Measurable improvement (5/12 → 12/12) tells a clear story.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45720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 Insurance Policy Assistant  ·  RAG + Agentic + Optimization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LIC policy documents  ·  End-to-end RAG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recommendation in pure Python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 → 12/12 through systematic optimization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Token-efficient  ·  Hallucination-free  ·  Production-grade tooling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</a:rPr>
              <a:t>Agent Architecture — A2A Pattern + MCP Tools</a:t>
            </a:r>
          </a:p>
        </p:txBody>
      </p:sp>
      <p:sp>
        <p:nvSpPr>
          <p:cNvPr id="3" name="Divider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</a:ln>
        </p:spPr>
      </p:sp>
      <p:sp>
        <p:nvSpPr>
          <p:cNvPr id="4" name="A2A Card"/>
          <p:cNvSpPr/>
          <p:nvPr/>
        </p:nvSpPr>
        <p:spPr>
          <a:xfrm>
            <a:off x="320040" y="860000"/>
            <a:ext cx="3986400" cy="3986400"/>
          </a:xfrm>
          <a:prstGeom prst="rect">
            <a:avLst/>
          </a:prstGeom>
          <a:solidFill>
            <a:srgbClr val="243558"/>
          </a:solidFill>
          <a:ln w="12700">
            <a:solidFill>
              <a:srgbClr val="1D6FA4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A2A Circle"/>
          <p:cNvSpPr/>
          <p:nvPr/>
        </p:nvSpPr>
        <p:spPr>
          <a:xfrm>
            <a:off x="2018840" y="814400"/>
            <a:ext cx="685800" cy="68580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</a:ln>
        </p:spPr>
      </p:sp>
      <p:sp>
        <p:nvSpPr>
          <p:cNvPr id="6" name="A2A Circle Text"/>
          <p:cNvSpPr/>
          <p:nvPr/>
        </p:nvSpPr>
        <p:spPr>
          <a:xfrm>
            <a:off x="2018840" y="8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A2A</a:t>
            </a:r>
          </a:p>
        </p:txBody>
      </p:sp>
      <p:sp>
        <p:nvSpPr>
          <p:cNvPr id="7" name="A2A Title"/>
          <p:cNvSpPr/>
          <p:nvPr/>
        </p:nvSpPr>
        <p:spPr>
          <a:xfrm>
            <a:off x="320040" y="1560000"/>
            <a:ext cx="39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Agent-to-Agent Pattern</a:t>
            </a:r>
          </a:p>
        </p:txBody>
      </p:sp>
      <p:sp>
        <p:nvSpPr>
          <p:cNvPr id="8" name="A2A Bullets"/>
          <p:cNvSpPr/>
          <p:nvPr/>
        </p:nvSpPr>
        <p:spPr>
          <a:xfrm>
            <a:off x="429768" y="2000000"/>
            <a:ext cx="3766800" cy="2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Orchestrator (main.py) routes to specialized agents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4 specialized agents: RAG, Recommendation, IRDAI, Calculator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Each agent has own LLM calls + data sources — no shared state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IRDAI agent: Tavily search + pgVector + LLM synthesis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Pattern identical to A2A — transport simulated in-process</a:t>
            </a:r>
          </a:p>
        </p:txBody>
      </p:sp>
      <p:sp>
        <p:nvSpPr>
          <p:cNvPr id="9" name="MCP Card"/>
          <p:cNvSpPr/>
          <p:nvPr/>
        </p:nvSpPr>
        <p:spPr>
          <a:xfrm>
            <a:off x="4757640" y="860000"/>
            <a:ext cx="3986400" cy="3986400"/>
          </a:xfrm>
          <a:prstGeom prst="rect">
            <a:avLst/>
          </a:prstGeom>
          <a:solidFill>
            <a:srgbClr val="243558"/>
          </a:solidFill>
          <a:ln w="12700">
            <a:solidFill>
              <a:srgbClr val="7C3AED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MCP Circle"/>
          <p:cNvSpPr/>
          <p:nvPr/>
        </p:nvSpPr>
        <p:spPr>
          <a:xfrm>
            <a:off x="6456440" y="81440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</p:sp>
      <p:sp>
        <p:nvSpPr>
          <p:cNvPr id="11" name="MCP Circle Text"/>
          <p:cNvSpPr/>
          <p:nvPr/>
        </p:nvSpPr>
        <p:spPr>
          <a:xfrm>
            <a:off x="6456440" y="8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MCP</a:t>
            </a:r>
          </a:p>
        </p:txBody>
      </p:sp>
      <p:sp>
        <p:nvSpPr>
          <p:cNvPr id="12" name="MCP Title"/>
          <p:cNvSpPr/>
          <p:nvPr/>
        </p:nvSpPr>
        <p:spPr>
          <a:xfrm>
            <a:off x="4757640" y="1560000"/>
            <a:ext cx="39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Model Context Protocol</a:t>
            </a:r>
          </a:p>
        </p:txBody>
      </p:sp>
      <p:sp>
        <p:nvSpPr>
          <p:cNvPr id="13" name="MCP Bullets"/>
          <p:cNvSpPr/>
          <p:nvPr/>
        </p:nvSpPr>
        <p:spPr>
          <a:xfrm>
            <a:off x="4867368" y="2000000"/>
            <a:ext cx="3766800" cy="2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Self-describing JSON tool schema (PREMIUM_TOOL_SCHEMA)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LLM autonomously decides when to call — tool_choice=auto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Zero routing code — LLM extracts all params from natural language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Actual math in Python — LLM never touches the numbers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New tool = new schema only, no routing changes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</a:rPr>
              <a:t>Dynamic UI + Observability</a:t>
            </a:r>
          </a:p>
        </p:txBody>
      </p:sp>
      <p:sp>
        <p:nvSpPr>
          <p:cNvPr id="3" name="Divider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</a:ln>
        </p:spPr>
      </p:sp>
      <p:sp>
        <p:nvSpPr>
          <p:cNvPr id="4" name="UI Card"/>
          <p:cNvSpPr/>
          <p:nvPr/>
        </p:nvSpPr>
        <p:spPr>
          <a:xfrm>
            <a:off x="320040" y="860000"/>
            <a:ext cx="3986400" cy="3986400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UI Circle"/>
          <p:cNvSpPr/>
          <p:nvPr/>
        </p:nvSpPr>
        <p:spPr>
          <a:xfrm>
            <a:off x="2018840" y="814400"/>
            <a:ext cx="685800" cy="685800"/>
          </a:xfrm>
          <a:prstGeom prst="ellipse">
            <a:avLst/>
          </a:prstGeom>
          <a:solidFill>
            <a:srgbClr val="E8732A"/>
          </a:solidFill>
          <a:ln w="12700">
            <a:solidFill>
              <a:srgbClr val="E8732A"/>
            </a:solidFill>
          </a:ln>
        </p:spPr>
      </p:sp>
      <p:sp>
        <p:nvSpPr>
          <p:cNvPr id="6" name="UI Circle Text"/>
          <p:cNvSpPr/>
          <p:nvPr/>
        </p:nvSpPr>
        <p:spPr>
          <a:xfrm>
            <a:off x="2018840" y="8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UI</a:t>
            </a:r>
          </a:p>
        </p:txBody>
      </p:sp>
      <p:sp>
        <p:nvSpPr>
          <p:cNvPr id="7" name="UI Title"/>
          <p:cNvSpPr/>
          <p:nvPr/>
        </p:nvSpPr>
        <p:spPr>
          <a:xfrm>
            <a:off x="320040" y="1560000"/>
            <a:ext cx="39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Banking-Grade Dynamic UI</a:t>
            </a:r>
          </a:p>
        </p:txBody>
      </p:sp>
      <p:sp>
        <p:nvSpPr>
          <p:cNvPr id="8" name="UI Bullets"/>
          <p:cNvSpPr/>
          <p:nvPr/>
        </p:nvSpPr>
        <p:spPr>
          <a:xfrm>
            <a:off x="429768" y="2000000"/>
            <a:ext cx="3766800" cy="2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Welcome dashboard with 4 capability action buttons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LLM-generated follow-up chips after every response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Policy picker — disambiguation buttons on vague queries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cl.Step transparency during 15-30s agent pipeline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3-turn memory + contextual query rewriting</a:t>
            </a:r>
          </a:p>
        </p:txBody>
      </p:sp>
      <p:sp>
        <p:nvSpPr>
          <p:cNvPr id="9" name="Langfuse Card"/>
          <p:cNvSpPr/>
          <p:nvPr/>
        </p:nvSpPr>
        <p:spPr>
          <a:xfrm>
            <a:off x="4757640" y="860000"/>
            <a:ext cx="3986400" cy="3986400"/>
          </a:xfrm>
          <a:prstGeom prst="rect">
            <a:avLst/>
          </a:prstGeom>
          <a:solidFill>
            <a:srgbClr val="243558"/>
          </a:solidFill>
          <a:ln w="12700">
            <a:solidFill>
              <a:srgbClr val="02C39A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LF Circle"/>
          <p:cNvSpPr/>
          <p:nvPr/>
        </p:nvSpPr>
        <p:spPr>
          <a:xfrm>
            <a:off x="6456440" y="81440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</a:ln>
        </p:spPr>
      </p:sp>
      <p:sp>
        <p:nvSpPr>
          <p:cNvPr id="11" name="LF Circle Text"/>
          <p:cNvSpPr/>
          <p:nvPr/>
        </p:nvSpPr>
        <p:spPr>
          <a:xfrm>
            <a:off x="6456440" y="8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LF</a:t>
            </a:r>
          </a:p>
        </p:txBody>
      </p:sp>
      <p:sp>
        <p:nvSpPr>
          <p:cNvPr id="12" name="LF Title"/>
          <p:cNvSpPr/>
          <p:nvPr/>
        </p:nvSpPr>
        <p:spPr>
          <a:xfrm>
            <a:off x="4757640" y="1560000"/>
            <a:ext cx="39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Langfuse Observability</a:t>
            </a:r>
          </a:p>
        </p:txBody>
      </p:sp>
      <p:sp>
        <p:nvSpPr>
          <p:cNvPr id="13" name="LF Bullets"/>
          <p:cNvSpPr/>
          <p:nvPr/>
        </p:nvSpPr>
        <p:spPr>
          <a:xfrm>
            <a:off x="4867368" y="2000000"/>
            <a:ext cx="3766800" cy="2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Every guardrail call traced with YES/NO + session tag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Every intent classification traced — FACTUAL / IRDAI / RECOMMEND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Filter guardrail_blocked to tune classifier prompt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SDK v4: propagate_attributes + start_as_current_observation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</a:rPr>
              <a:t>3-level hierarchy: Trace → Span → Generation per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1181</Words>
  <Application>Microsoft Office PowerPoint</Application>
  <PresentationFormat>On-screen Show (16:9)</PresentationFormat>
  <Paragraphs>245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LIC Insurance RAG Assistant</dc:title>
  <dc:subject>PptxGenJS Presentation</dc:subject>
  <dc:creator>PptxGenJS</dc:creator>
  <cp:lastModifiedBy>Divyansh Bohra</cp:lastModifiedBy>
  <cp:revision>4</cp:revision>
  <dcterms:created xsi:type="dcterms:W3CDTF">2026-05-12T10:39:40Z</dcterms:created>
  <dcterms:modified xsi:type="dcterms:W3CDTF">2026-05-19T10:33:17Z</dcterms:modified>
</cp:coreProperties>
</file>